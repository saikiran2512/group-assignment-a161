
<file path=[Content_Types].xml><?xml version="1.0" encoding="utf-8"?>
<Types xmlns="http://schemas.openxmlformats.org/package/2006/content-types">
  <Default Extension="emf" ContentType="image/x-emf"/>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89" r:id="rId5"/>
    <p:sldId id="340" r:id="rId6"/>
    <p:sldId id="329" r:id="rId7"/>
    <p:sldId id="336" r:id="rId8"/>
    <p:sldId id="347" r:id="rId9"/>
    <p:sldId id="350" r:id="rId10"/>
    <p:sldId id="259" r:id="rId11"/>
    <p:sldId id="262" r:id="rId12"/>
    <p:sldId id="35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9E4"/>
    <a:srgbClr val="A97CBE"/>
    <a:srgbClr val="85509A"/>
    <a:srgbClr val="714484"/>
    <a:srgbClr val="0073CF"/>
    <a:srgbClr val="203232"/>
    <a:srgbClr val="30454F"/>
    <a:srgbClr val="1295D8"/>
    <a:srgbClr val="004A5C"/>
    <a:srgbClr val="0093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4" y="4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24/11/2025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25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a:t>
            </a:r>
            <a:r>
              <a:rPr lang="en-US" sz="2200"/>
              <a:t>:  24-11-2025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3999" y="1890000"/>
            <a:ext cx="10612113" cy="360000"/>
          </a:xfrm>
        </p:spPr>
        <p:txBody>
          <a:bodyPr/>
          <a:lstStyle/>
          <a:p>
            <a:r>
              <a:rPr lang="en-US" sz="2000" dirty="0"/>
              <a:t>Group Name: </a:t>
            </a:r>
            <a:r>
              <a:rPr lang="en-GB" sz="2000" dirty="0"/>
              <a:t>Group A 101</a:t>
            </a:r>
            <a:r>
              <a:rPr lang="en-US" sz="2000" dirty="0"/>
              <a:t>        Name of Student Presenting: Kiran Dennis Kotteparambil Thomas</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Group A 101                   </a:t>
            </a:r>
          </a:p>
          <a:p>
            <a:r>
              <a:rPr lang="en-GB" dirty="0"/>
              <a:t>Names of Student Attendees  (all group should attend to get feedback): </a:t>
            </a:r>
          </a:p>
          <a:p>
            <a:r>
              <a:rPr lang="sv-SE" dirty="0"/>
              <a:t>Jishnu Krishnan, Kalasha Dokhale, Kiran Dennis Kotteparambil Thomas, Replica Rasaili, Tenzin Choyang</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Group A 101</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1956" y="1633355"/>
            <a:ext cx="9965844" cy="3846064"/>
          </a:xfrm>
        </p:spPr>
        <p:txBody>
          <a:bodyPr>
            <a:normAutofit/>
          </a:bodyPr>
          <a:lstStyle/>
          <a:p>
            <a:pPr>
              <a:lnSpc>
                <a:spcPts val="2880"/>
              </a:lnSpc>
              <a:spcBef>
                <a:spcPts val="0"/>
              </a:spcBef>
              <a:spcAft>
                <a:spcPts val="992"/>
              </a:spcAft>
            </a:pPr>
            <a:r>
              <a:rPr lang="en-GB" sz="2400" dirty="0">
                <a:cs typeface="Arial"/>
              </a:rPr>
              <a:t>1. For our research question, we will use the price and fuel type columns.</a:t>
            </a:r>
            <a:br>
              <a:rPr lang="en-GB" sz="2400" dirty="0">
                <a:cs typeface="Arial"/>
              </a:rPr>
            </a:br>
            <a:r>
              <a:rPr lang="en-GB" sz="2400" dirty="0">
                <a:cs typeface="Arial"/>
              </a:rPr>
              <a:t>2. Sample dataset </a:t>
            </a: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r>
              <a:rPr lang="en-GB" sz="2400" dirty="0">
                <a:cs typeface="Arial"/>
              </a:rPr>
              <a:t>3. The dataset has 15157 rows and 9 columns.</a:t>
            </a:r>
            <a:endParaRPr lang="en-US" sz="2400" dirty="0">
              <a:cs typeface="Arial"/>
            </a:endParaRPr>
          </a:p>
        </p:txBody>
      </p:sp>
      <p:pic>
        <p:nvPicPr>
          <p:cNvPr id="6" name="Picture 5">
            <a:extLst>
              <a:ext uri="{FF2B5EF4-FFF2-40B4-BE49-F238E27FC236}">
                <a16:creationId xmlns:a16="http://schemas.microsoft.com/office/drawing/2014/main" id="{A1DB1988-7977-BBC7-B0DA-9E0C252524FF}"/>
              </a:ext>
            </a:extLst>
          </p:cNvPr>
          <p:cNvPicPr>
            <a:picLocks noChangeAspect="1"/>
          </p:cNvPicPr>
          <p:nvPr/>
        </p:nvPicPr>
        <p:blipFill>
          <a:blip r:embed="rId3"/>
          <a:stretch>
            <a:fillRect/>
          </a:stretch>
        </p:blipFill>
        <p:spPr>
          <a:xfrm>
            <a:off x="961956" y="2565537"/>
            <a:ext cx="8877756" cy="1238314"/>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dirty="0"/>
              <a:t>: DS181 Filename: vw.csv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195444"/>
            <a:ext cx="10503103" cy="360121"/>
          </a:xfrm>
        </p:spPr>
        <p:txBody>
          <a:bodyPr/>
          <a:lstStyle/>
          <a:p>
            <a:r>
              <a:rPr lang="en-GB" dirty="0"/>
              <a:t>7COM1079-2025  Student Group No: Group A 101                    </a:t>
            </a:r>
          </a:p>
          <a:p>
            <a:r>
              <a:rPr lang="en-GB" dirty="0"/>
              <a:t>Names of Student Group Attendees: </a:t>
            </a:r>
          </a:p>
          <a:p>
            <a:r>
              <a:rPr lang="sv-SE" dirty="0"/>
              <a:t>Jishnu Krishnan, Kalasha Dokhale, Kiran Dennis Kotteparambil Thomas, Replica Rasaili, Tenzin Choyang</a:t>
            </a:r>
            <a:r>
              <a:rPr lang="en-GB" dirty="0"/>
              <a:t>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3515869"/>
          </a:xfrm>
        </p:spPr>
        <p:txBody>
          <a:bodyPr>
            <a:noAutofit/>
          </a:bodyPr>
          <a:lstStyle/>
          <a:p>
            <a:pPr>
              <a:lnSpc>
                <a:spcPct val="100000"/>
              </a:lnSpc>
            </a:pPr>
            <a:r>
              <a:rPr lang="en-US" sz="2400" b="0" dirty="0">
                <a:latin typeface="Calibri"/>
                <a:cs typeface="Calibri"/>
              </a:rPr>
              <a:t>This dataset is interesting to us because : This dataset is interesting to us because it provides used car data that allows us to determine prices based on factors such as age, mileage, engine size, fuel type, fuel economy and transmission.</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fuel type</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(select one): Nominal/categorial</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price</a:t>
            </a:r>
            <a:br>
              <a:rPr lang="en-US" sz="2400" b="0" dirty="0">
                <a:latin typeface="Calibri" panose="020F0502020204030204" pitchFamily="34" charset="0"/>
                <a:cs typeface="Calibri" panose="020F0502020204030204" pitchFamily="34" charset="0"/>
              </a:rPr>
            </a:br>
            <a:r>
              <a:rPr lang="en-US" sz="2400" b="0" dirty="0">
                <a:latin typeface="Calibri"/>
                <a:cs typeface="Calibri"/>
              </a:rPr>
              <a:t>                   This Dependent variable datatype is  (select one): Interval/measurement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Group A 101</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490294"/>
            <a:ext cx="10640594" cy="3640119"/>
          </a:xfrm>
        </p:spPr>
        <p:txBody>
          <a:bodyPr>
            <a:noAutofit/>
          </a:bodyPr>
          <a:lstStyle/>
          <a:p>
            <a:pPr>
              <a:lnSpc>
                <a:spcPct val="100000"/>
              </a:lnSpc>
            </a:pPr>
            <a:r>
              <a:rPr lang="en-IE" sz="2000" dirty="0">
                <a:latin typeface="Calibri"/>
                <a:ea typeface="Calibri" panose="020F0502020204030204" pitchFamily="34" charset="0"/>
                <a:cs typeface="Times New Roman"/>
              </a:rPr>
              <a:t>Template</a:t>
            </a:r>
            <a:r>
              <a:rPr lang="en-IE" sz="2000" baseline="30000" dirty="0">
                <a:latin typeface="Calibri"/>
                <a:ea typeface="Calibri" panose="020F0502020204030204" pitchFamily="34" charset="0"/>
                <a:cs typeface="Times New Roman"/>
              </a:rPr>
              <a:t>2</a:t>
            </a:r>
            <a:r>
              <a:rPr lang="en-IE" sz="2000" dirty="0">
                <a:latin typeface="Calibri"/>
                <a:ea typeface="Calibri" panose="020F0502020204030204" pitchFamily="34" charset="0"/>
                <a:cs typeface="Times New Roman"/>
              </a:rPr>
              <a:t> : </a:t>
            </a:r>
            <a:r>
              <a:rPr lang="en-IE" sz="2200" b="0" dirty="0">
                <a:latin typeface="Calibri" panose="020F0502020204030204" pitchFamily="34" charset="0"/>
                <a:ea typeface="Calibri" panose="020F0502020204030204" pitchFamily="34" charset="0"/>
                <a:cs typeface="Calibri" panose="020F0502020204030204" pitchFamily="34" charset="0"/>
              </a:rPr>
              <a:t>Interval/Ordinal vs Nominal. data </a:t>
            </a:r>
            <a:r>
              <a:rPr lang="en-IE" sz="2200" dirty="0">
                <a:latin typeface="Calibri" panose="020F0502020204030204" pitchFamily="34" charset="0"/>
                <a:ea typeface="Calibri" panose="020F0502020204030204" pitchFamily="34" charset="0"/>
                <a:cs typeface="Calibri" panose="020F0502020204030204" pitchFamily="34" charset="0"/>
              </a:rPr>
              <a:t>“Is there a difference in the mean price </a:t>
            </a:r>
            <a:r>
              <a:rPr lang="en-GB" sz="2200" dirty="0">
                <a:latin typeface="Calibri" panose="020F0502020204030204" pitchFamily="34" charset="0"/>
                <a:ea typeface="Calibri" panose="020F0502020204030204" pitchFamily="34" charset="0"/>
                <a:cs typeface="Calibri" panose="020F0502020204030204" pitchFamily="34" charset="0"/>
              </a:rPr>
              <a:t>between</a:t>
            </a:r>
            <a:r>
              <a:rPr lang="en-IE" sz="2200" dirty="0">
                <a:latin typeface="Calibri" panose="020F0502020204030204" pitchFamily="34" charset="0"/>
                <a:ea typeface="Calibri" panose="020F0502020204030204" pitchFamily="34" charset="0"/>
                <a:cs typeface="Calibri" panose="020F0502020204030204" pitchFamily="34" charset="0"/>
              </a:rPr>
              <a:t> petrol and diesel fuel type</a:t>
            </a:r>
            <a:r>
              <a:rPr lang="en-IE" sz="2200"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IE" sz="2200" dirty="0">
                <a:latin typeface="Calibri" panose="020F0502020204030204" pitchFamily="34" charset="0"/>
                <a:ea typeface="Calibri" panose="020F0502020204030204" pitchFamily="34" charset="0"/>
                <a:cs typeface="Calibri" panose="020F0502020204030204" pitchFamily="34" charset="0"/>
              </a:rPr>
              <a:t>in the UK’s  used car  market  for  Volkswagen cars </a:t>
            </a:r>
            <a:r>
              <a:rPr lang="en-GB" sz="2200" dirty="0">
                <a:latin typeface="Calibri" panose="020F0502020204030204" pitchFamily="34" charset="0"/>
                <a:ea typeface="Calibri" panose="020F0502020204030204" pitchFamily="34" charset="0"/>
                <a:cs typeface="Calibri" panose="020F0502020204030204" pitchFamily="34" charset="0"/>
              </a:rPr>
              <a:t>manufactured</a:t>
            </a:r>
            <a:r>
              <a:rPr lang="en-IE" sz="2200" dirty="0">
                <a:latin typeface="Calibri" panose="020F0502020204030204" pitchFamily="34" charset="0"/>
                <a:ea typeface="Calibri" panose="020F0502020204030204" pitchFamily="34" charset="0"/>
                <a:cs typeface="Calibri" panose="020F0502020204030204" pitchFamily="34" charset="0"/>
              </a:rPr>
              <a:t> from 2000 to 2020”. </a:t>
            </a:r>
            <a:br>
              <a:rPr lang="en-IE" sz="2200" dirty="0">
                <a:effectLst/>
                <a:latin typeface="Calibri" panose="020F0502020204030204" pitchFamily="34" charset="0"/>
                <a:ea typeface="Calibri" panose="020F0502020204030204" pitchFamily="34" charset="0"/>
                <a:cs typeface="Calibri" panose="020F0502020204030204" pitchFamily="34" charset="0"/>
              </a:rPr>
            </a:br>
            <a:br>
              <a:rPr lang="en-IE" sz="2200" dirty="0">
                <a:effectLst/>
                <a:latin typeface="Calibri" panose="020F0502020204030204" pitchFamily="34" charset="0"/>
                <a:ea typeface="Calibri" panose="020F0502020204030204" pitchFamily="34" charset="0"/>
                <a:cs typeface="Calibri" panose="020F0502020204030204" pitchFamily="34" charset="0"/>
              </a:rPr>
            </a:br>
            <a:r>
              <a:rPr lang="en-IE" sz="2200" dirty="0">
                <a:effectLst/>
                <a:latin typeface="Calibri" panose="020F0502020204030204" pitchFamily="34" charset="0"/>
                <a:ea typeface="Calibri" panose="020F0502020204030204" pitchFamily="34" charset="0"/>
                <a:cs typeface="Calibri" panose="020F0502020204030204" pitchFamily="34" charset="0"/>
              </a:rPr>
              <a:t>1. </a:t>
            </a:r>
            <a:r>
              <a:rPr lang="en-GB" sz="2200" dirty="0">
                <a:latin typeface="Calibri" panose="020F0502020204030204" pitchFamily="34" charset="0"/>
                <a:ea typeface="Calibri" panose="020F0502020204030204" pitchFamily="34" charset="0"/>
                <a:cs typeface="Calibri" panose="020F0502020204030204" pitchFamily="34" charset="0"/>
              </a:rPr>
              <a:t>Null hypothesis (H</a:t>
            </a:r>
            <a:r>
              <a:rPr lang="en-GB" sz="2200" baseline="-25000" dirty="0">
                <a:latin typeface="Calibri" panose="020F0502020204030204" pitchFamily="34" charset="0"/>
                <a:ea typeface="Calibri" panose="020F0502020204030204" pitchFamily="34" charset="0"/>
                <a:cs typeface="Calibri" panose="020F0502020204030204" pitchFamily="34" charset="0"/>
              </a:rPr>
              <a:t>0</a:t>
            </a:r>
            <a:r>
              <a:rPr lang="en-GB" sz="2200" dirty="0">
                <a:latin typeface="Calibri" panose="020F0502020204030204" pitchFamily="34" charset="0"/>
                <a:ea typeface="Calibri" panose="020F0502020204030204" pitchFamily="34" charset="0"/>
                <a:cs typeface="Calibri" panose="020F0502020204030204" pitchFamily="34" charset="0"/>
              </a:rPr>
              <a:t>): </a:t>
            </a:r>
            <a:r>
              <a:rPr lang="en-GB" sz="2200" b="0" dirty="0">
                <a:latin typeface="Calibri" panose="020F0502020204030204" pitchFamily="34" charset="0"/>
                <a:ea typeface="Calibri" panose="020F0502020204030204" pitchFamily="34" charset="0"/>
                <a:cs typeface="Calibri" panose="020F0502020204030204" pitchFamily="34" charset="0"/>
              </a:rPr>
              <a:t>There is no difference in the </a:t>
            </a:r>
            <a:r>
              <a:rPr lang="en-IE" sz="2200" b="0" dirty="0">
                <a:latin typeface="Calibri" panose="020F0502020204030204" pitchFamily="34" charset="0"/>
                <a:ea typeface="Calibri" panose="020F0502020204030204" pitchFamily="34" charset="0"/>
                <a:cs typeface="Calibri" panose="020F0502020204030204" pitchFamily="34" charset="0"/>
              </a:rPr>
              <a:t>mean price </a:t>
            </a:r>
            <a:r>
              <a:rPr lang="en-GB" sz="2200" b="0" dirty="0">
                <a:latin typeface="Calibri" panose="020F0502020204030204" pitchFamily="34" charset="0"/>
                <a:ea typeface="Calibri" panose="020F0502020204030204" pitchFamily="34" charset="0"/>
                <a:cs typeface="Calibri" panose="020F0502020204030204" pitchFamily="34" charset="0"/>
              </a:rPr>
              <a:t>between</a:t>
            </a:r>
            <a:r>
              <a:rPr lang="en-IE" sz="2200" b="0" dirty="0">
                <a:latin typeface="Calibri" panose="020F0502020204030204" pitchFamily="34" charset="0"/>
                <a:ea typeface="Calibri" panose="020F0502020204030204" pitchFamily="34" charset="0"/>
                <a:cs typeface="Calibri" panose="020F0502020204030204" pitchFamily="34" charset="0"/>
              </a:rPr>
              <a:t> petrol and diesel fuel type</a:t>
            </a:r>
            <a:r>
              <a:rPr lang="en-IE" sz="2200" b="0"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IE" sz="2200" b="0" dirty="0">
                <a:latin typeface="Calibri" panose="020F0502020204030204" pitchFamily="34" charset="0"/>
                <a:ea typeface="Calibri" panose="020F0502020204030204" pitchFamily="34" charset="0"/>
                <a:cs typeface="Calibri" panose="020F0502020204030204" pitchFamily="34" charset="0"/>
              </a:rPr>
              <a:t>in the UK’s  used car  market  for  Volkswagen cars </a:t>
            </a:r>
            <a:r>
              <a:rPr lang="en-GB" sz="2200" b="0" dirty="0">
                <a:latin typeface="Calibri" panose="020F0502020204030204" pitchFamily="34" charset="0"/>
                <a:ea typeface="Calibri" panose="020F0502020204030204" pitchFamily="34" charset="0"/>
                <a:cs typeface="Calibri" panose="020F0502020204030204" pitchFamily="34" charset="0"/>
              </a:rPr>
              <a:t>manufactured</a:t>
            </a:r>
            <a:r>
              <a:rPr lang="en-IE" sz="2200" b="0" dirty="0">
                <a:latin typeface="Calibri" panose="020F0502020204030204" pitchFamily="34" charset="0"/>
                <a:ea typeface="Calibri" panose="020F0502020204030204" pitchFamily="34" charset="0"/>
                <a:cs typeface="Calibri" panose="020F0502020204030204" pitchFamily="34" charset="0"/>
              </a:rPr>
              <a:t> from 2000 to 2020.</a:t>
            </a:r>
            <a:r>
              <a:rPr lang="en-GB" sz="2200" b="0" dirty="0">
                <a:latin typeface="Calibri" panose="020F0502020204030204" pitchFamily="34" charset="0"/>
                <a:ea typeface="Calibri" panose="020F0502020204030204" pitchFamily="34" charset="0"/>
                <a:cs typeface="Calibri" panose="020F0502020204030204" pitchFamily="34" charset="0"/>
              </a:rPr>
              <a:t> </a:t>
            </a:r>
            <a:br>
              <a:rPr lang="en-GB" sz="2200" b="0" dirty="0">
                <a:latin typeface="Calibri" panose="020F0502020204030204" pitchFamily="34" charset="0"/>
                <a:ea typeface="Calibri" panose="020F0502020204030204" pitchFamily="34" charset="0"/>
                <a:cs typeface="Calibri" panose="020F0502020204030204" pitchFamily="34" charset="0"/>
              </a:rPr>
            </a:br>
            <a:br>
              <a:rPr lang="en-IE" sz="2200" b="0" dirty="0">
                <a:effectLst/>
                <a:latin typeface="Calibri" panose="020F0502020204030204" pitchFamily="34" charset="0"/>
                <a:ea typeface="Calibri" panose="020F0502020204030204" pitchFamily="34" charset="0"/>
                <a:cs typeface="Calibri" panose="020F0502020204030204" pitchFamily="34" charset="0"/>
              </a:rPr>
            </a:br>
            <a:r>
              <a:rPr lang="en-IE" sz="2200" dirty="0">
                <a:effectLst/>
                <a:latin typeface="Calibri" panose="020F0502020204030204" pitchFamily="34" charset="0"/>
                <a:ea typeface="Calibri" panose="020F0502020204030204" pitchFamily="34" charset="0"/>
                <a:cs typeface="Calibri" panose="020F0502020204030204" pitchFamily="34" charset="0"/>
              </a:rPr>
              <a:t>2. </a:t>
            </a:r>
            <a:r>
              <a:rPr lang="en-GB" sz="2200" dirty="0">
                <a:latin typeface="Calibri" panose="020F0502020204030204" pitchFamily="34" charset="0"/>
                <a:ea typeface="Calibri" panose="020F0502020204030204" pitchFamily="34" charset="0"/>
                <a:cs typeface="Calibri" panose="020F0502020204030204" pitchFamily="34" charset="0"/>
              </a:rPr>
              <a:t>Alt hypothesis (H</a:t>
            </a:r>
            <a:r>
              <a:rPr lang="en-GB" sz="2200" baseline="-25000" dirty="0">
                <a:latin typeface="Calibri" panose="020F0502020204030204" pitchFamily="34" charset="0"/>
                <a:ea typeface="Calibri" panose="020F0502020204030204" pitchFamily="34" charset="0"/>
                <a:cs typeface="Calibri" panose="020F0502020204030204" pitchFamily="34" charset="0"/>
              </a:rPr>
              <a:t>1</a:t>
            </a:r>
            <a:r>
              <a:rPr lang="en-GB" sz="2200" dirty="0">
                <a:latin typeface="Calibri" panose="020F0502020204030204" pitchFamily="34" charset="0"/>
                <a:ea typeface="Calibri" panose="020F0502020204030204" pitchFamily="34" charset="0"/>
                <a:cs typeface="Calibri" panose="020F0502020204030204" pitchFamily="34" charset="0"/>
              </a:rPr>
              <a:t>): </a:t>
            </a:r>
            <a:r>
              <a:rPr lang="en-GB" sz="2200" b="0" dirty="0">
                <a:latin typeface="Calibri" panose="020F0502020204030204" pitchFamily="34" charset="0"/>
                <a:ea typeface="Calibri" panose="020F0502020204030204" pitchFamily="34" charset="0"/>
                <a:cs typeface="Calibri" panose="020F0502020204030204" pitchFamily="34" charset="0"/>
              </a:rPr>
              <a:t>There is a difference in the </a:t>
            </a:r>
            <a:r>
              <a:rPr lang="en-IE" sz="2200" b="0" dirty="0">
                <a:latin typeface="Calibri" panose="020F0502020204030204" pitchFamily="34" charset="0"/>
                <a:ea typeface="Calibri" panose="020F0502020204030204" pitchFamily="34" charset="0"/>
                <a:cs typeface="Calibri" panose="020F0502020204030204" pitchFamily="34" charset="0"/>
              </a:rPr>
              <a:t>mean price </a:t>
            </a:r>
            <a:r>
              <a:rPr lang="en-GB" sz="2200" b="0" dirty="0">
                <a:latin typeface="Calibri" panose="020F0502020204030204" pitchFamily="34" charset="0"/>
                <a:ea typeface="Calibri" panose="020F0502020204030204" pitchFamily="34" charset="0"/>
                <a:cs typeface="Calibri" panose="020F0502020204030204" pitchFamily="34" charset="0"/>
              </a:rPr>
              <a:t>between</a:t>
            </a:r>
            <a:r>
              <a:rPr lang="en-IE" sz="2200" b="0" dirty="0">
                <a:latin typeface="Calibri" panose="020F0502020204030204" pitchFamily="34" charset="0"/>
                <a:ea typeface="Calibri" panose="020F0502020204030204" pitchFamily="34" charset="0"/>
                <a:cs typeface="Calibri" panose="020F0502020204030204" pitchFamily="34" charset="0"/>
              </a:rPr>
              <a:t> petrol and diesel fuel fuel type</a:t>
            </a:r>
            <a:r>
              <a:rPr lang="en-IE" sz="2200" b="0"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IE" sz="2200" b="0" dirty="0">
                <a:latin typeface="Calibri" panose="020F0502020204030204" pitchFamily="34" charset="0"/>
                <a:ea typeface="Calibri" panose="020F0502020204030204" pitchFamily="34" charset="0"/>
                <a:cs typeface="Calibri" panose="020F0502020204030204" pitchFamily="34" charset="0"/>
              </a:rPr>
              <a:t>in the UK’s  used car  market  for  Volkswagen cars </a:t>
            </a:r>
            <a:r>
              <a:rPr lang="en-GB" sz="2200" b="0" dirty="0">
                <a:latin typeface="Calibri" panose="020F0502020204030204" pitchFamily="34" charset="0"/>
                <a:ea typeface="Calibri" panose="020F0502020204030204" pitchFamily="34" charset="0"/>
                <a:cs typeface="Calibri" panose="020F0502020204030204" pitchFamily="34" charset="0"/>
              </a:rPr>
              <a:t>manufactured</a:t>
            </a:r>
            <a:r>
              <a:rPr lang="en-IE" sz="2200" b="0" dirty="0">
                <a:latin typeface="Calibri" panose="020F0502020204030204" pitchFamily="34" charset="0"/>
                <a:ea typeface="Calibri" panose="020F0502020204030204" pitchFamily="34" charset="0"/>
                <a:cs typeface="Calibri" panose="020F0502020204030204" pitchFamily="34" charset="0"/>
              </a:rPr>
              <a:t> from 2000 to 2020.</a:t>
            </a:r>
            <a:br>
              <a:rPr lang="en-GB" sz="2200" b="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GB" sz="2200" b="0" dirty="0">
                <a:solidFill>
                  <a:srgbClr val="FF0000"/>
                </a:solidFill>
                <a:latin typeface="Calibri" panose="020F0502020204030204" pitchFamily="34" charset="0"/>
                <a:ea typeface="Calibri" panose="020F0502020204030204" pitchFamily="34" charset="0"/>
                <a:cs typeface="Arial"/>
              </a:rPr>
            </a:br>
            <a:r>
              <a:rPr lang="en-GB" sz="2000" i="1" dirty="0"/>
              <a:t>We have  statistical significance [p-value = &lt; 0.05] </a:t>
            </a:r>
            <a:br>
              <a:rPr lang="en-GB" sz="2000" i="1" dirty="0"/>
            </a:br>
            <a:r>
              <a:rPr lang="en-GB" sz="2000" i="1" dirty="0"/>
              <a:t>"We reject the null hypothesis".</a:t>
            </a:r>
            <a:br>
              <a:rPr lang="en-GB" sz="2400" b="0" dirty="0">
                <a:solidFill>
                  <a:srgbClr val="FF0000"/>
                </a:solidFill>
                <a:cs typeface="Arial"/>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1800" dirty="0"/>
              <a:t>Group Name: </a:t>
            </a:r>
            <a:r>
              <a:rPr lang="en-GB" sz="1800" dirty="0"/>
              <a:t>Group A 101</a:t>
            </a:r>
            <a:r>
              <a:rPr lang="en-US" sz="1800" dirty="0"/>
              <a:t>     Name of Student Presenting: Kiran Dennis Kotteparambil Thomas</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Group A 101                   </a:t>
            </a:r>
          </a:p>
          <a:p>
            <a:r>
              <a:rPr lang="en-GB" dirty="0"/>
              <a:t>Names of Student Attendees  (all group should attend to get feedback): </a:t>
            </a:r>
          </a:p>
          <a:p>
            <a:r>
              <a:rPr lang="sv-SE" dirty="0"/>
              <a:t>Jishnu Krishnan, Kalasha Dokhale, Kiran Dennis Kotteparambil Thomas, Replica Rasaili, Tenzin Choyang</a:t>
            </a:r>
            <a:endParaRPr lang="en-GB" dirty="0"/>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5</a:t>
            </a:fld>
            <a:endParaRPr lang="en-GB"/>
          </a:p>
        </p:txBody>
      </p:sp>
    </p:spTree>
    <p:extLst>
      <p:ext uri="{BB962C8B-B14F-4D97-AF65-F5344CB8AC3E}">
        <p14:creationId xmlns:p14="http://schemas.microsoft.com/office/powerpoint/2010/main" val="3250514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65289" y="353630"/>
            <a:ext cx="10273911" cy="668224"/>
          </a:xfrm>
          <a:solidFill>
            <a:schemeClr val="bg2"/>
          </a:solidFill>
        </p:spPr>
        <p:txBody>
          <a:bodyPr/>
          <a:lstStyle/>
          <a:p>
            <a:pPr>
              <a:lnSpc>
                <a:spcPct val="100000"/>
              </a:lnSpc>
            </a:pPr>
            <a:r>
              <a:rPr lang="en-GB" b="0">
                <a:solidFill>
                  <a:srgbClr val="FF0000"/>
                </a:solidFill>
              </a:rPr>
              <a:t>2. Where your research question asks about </a:t>
            </a:r>
            <a:r>
              <a:rPr lang="en-GB"/>
              <a:t>Comparison of means/medians</a:t>
            </a:r>
            <a:r>
              <a:rPr lang="en-GB" b="0"/>
              <a:t>: Include two plots</a:t>
            </a:r>
            <a:endParaRPr lang="en-GB" b="0" i="1"/>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965289" y="1534358"/>
            <a:ext cx="10656467" cy="2010058"/>
          </a:xfrm>
          <a:solidFill>
            <a:srgbClr val="FFFF00"/>
          </a:solidFill>
        </p:spPr>
        <p:txBody>
          <a:bodyPr>
            <a:normAutofit/>
          </a:bodyPr>
          <a:lstStyle/>
          <a:p>
            <a:pPr>
              <a:lnSpc>
                <a:spcPct val="100000"/>
              </a:lnSpc>
            </a:pPr>
            <a:endParaRPr lang="en-GB" sz="3100" b="0" dirty="0"/>
          </a:p>
        </p:txBody>
      </p:sp>
      <p:pic>
        <p:nvPicPr>
          <p:cNvPr id="5" name="Picture 4" descr="A graph of a graph of a graph&#10;&#10;AI-generated content may be incorrect.">
            <a:extLst>
              <a:ext uri="{FF2B5EF4-FFF2-40B4-BE49-F238E27FC236}">
                <a16:creationId xmlns:a16="http://schemas.microsoft.com/office/drawing/2014/main" id="{D2E70D48-E827-22FA-25AF-260B8D9F2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289" y="1534358"/>
            <a:ext cx="5281948" cy="32168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descr="A diagram of a fuel type&#10;&#10;AI-generated content may be incorrect.">
            <a:extLst>
              <a:ext uri="{FF2B5EF4-FFF2-40B4-BE49-F238E27FC236}">
                <a16:creationId xmlns:a16="http://schemas.microsoft.com/office/drawing/2014/main" id="{4110220A-A493-ACDF-E2CB-6ED5FE85EC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7237" y="1534358"/>
            <a:ext cx="5374519" cy="32732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335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7</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 (shown in blue)</a:t>
            </a:r>
            <a:r>
              <a:rPr lang="en-GB" sz="1800" b="0" strike="noStrike" spc="-1">
                <a:solidFill>
                  <a:srgbClr val="203232"/>
                </a:solidFill>
                <a:latin typeface="Arial"/>
              </a:rPr>
              <a:t>.</a:t>
            </a:r>
            <a:endParaRPr lang="en-US" sz="1800" b="0" strike="noStrike" spc="-1">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sp>
        <p:nvSpPr>
          <p:cNvPr id="113" name="CustomShape 10"/>
          <p:cNvSpPr/>
          <p:nvPr/>
        </p:nvSpPr>
        <p:spPr>
          <a:xfrm>
            <a:off x="6403680" y="1917361"/>
            <a:ext cx="4475760" cy="202987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pc="-1" dirty="0">
                <a:solidFill>
                  <a:srgbClr val="203232"/>
                </a:solidFill>
              </a:rPr>
              <a:t>The normal curve overlay </a:t>
            </a:r>
            <a:r>
              <a:rPr lang="en-GB" b="1" i="1" spc="-1" dirty="0">
                <a:solidFill>
                  <a:srgbClr val="203232"/>
                </a:solidFill>
              </a:rPr>
              <a:t>does not follow</a:t>
            </a:r>
            <a:r>
              <a:rPr lang="en-GB" spc="-1" dirty="0">
                <a:solidFill>
                  <a:srgbClr val="203232"/>
                </a:solidFill>
              </a:rPr>
              <a:t> the shape of the underlying data, so we use the non-parametric test that does not assume normality: </a:t>
            </a:r>
            <a:r>
              <a:rPr lang="en-GB" spc="-1" dirty="0">
                <a:solidFill>
                  <a:srgbClr val="0073CF"/>
                </a:solidFill>
              </a:rPr>
              <a:t>Wilcoxon</a:t>
            </a:r>
            <a:r>
              <a:rPr lang="en-GB" spc="-1" dirty="0">
                <a:solidFill>
                  <a:srgbClr val="203232"/>
                </a:solidFill>
              </a:rPr>
              <a:t> also known as the </a:t>
            </a:r>
            <a:r>
              <a:rPr lang="en-GB" spc="-1" dirty="0">
                <a:solidFill>
                  <a:srgbClr val="0073CF"/>
                </a:solidFill>
              </a:rPr>
              <a:t>Mann Whitney U Test.</a:t>
            </a:r>
            <a:endParaRPr lang="en-US" spc="-1" dirty="0"/>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pic>
        <p:nvPicPr>
          <p:cNvPr id="4" name="Picture 3" descr="A graph of a graph of a price&#10;&#10;AI-generated content may be incorrect.">
            <a:extLst>
              <a:ext uri="{FF2B5EF4-FFF2-40B4-BE49-F238E27FC236}">
                <a16:creationId xmlns:a16="http://schemas.microsoft.com/office/drawing/2014/main" id="{DAB30358-1026-ECF6-73A8-1B8C9EBD6C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2" y="2042083"/>
            <a:ext cx="5792895" cy="3528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8</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dirty="0">
                <a:solidFill>
                  <a:srgbClr val="203232"/>
                </a:solidFill>
                <a:latin typeface="Arial"/>
              </a:rPr>
              <a:t>R Script and Results  (For ALL types of test) – The Analysis</a:t>
            </a:r>
            <a:endParaRPr lang="en-US" sz="3600" b="1" strike="noStrike" spc="-1" dirty="0">
              <a:latin typeface="Arial"/>
            </a:endParaRPr>
          </a:p>
          <a:p>
            <a:pPr>
              <a:lnSpc>
                <a:spcPct val="100000"/>
              </a:lnSpc>
              <a:spcAft>
                <a:spcPts val="992"/>
              </a:spcAft>
              <a:tabLst>
                <a:tab pos="0" algn="l"/>
              </a:tabLst>
            </a:pPr>
            <a:endParaRPr lang="en-US" sz="2400" b="0" strike="noStrike" spc="-1" dirty="0">
              <a:latin typeface="Arial"/>
            </a:endParaRPr>
          </a:p>
          <a:p>
            <a:pPr>
              <a:lnSpc>
                <a:spcPct val="100000"/>
              </a:lnSpc>
              <a:spcAft>
                <a:spcPts val="992"/>
              </a:spcAft>
              <a:tabLst>
                <a:tab pos="0" algn="l"/>
              </a:tabLst>
            </a:pPr>
            <a:endParaRPr lang="en-US" sz="2400" b="0" strike="noStrike" spc="-1" dirty="0">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573941"/>
            <a:ext cx="11066988" cy="338554"/>
          </a:xfrm>
          <a:prstGeom prst="rect">
            <a:avLst/>
          </a:prstGeom>
          <a:solidFill>
            <a:schemeClr val="bg1"/>
          </a:solidFill>
        </p:spPr>
        <p:txBody>
          <a:bodyPr wrap="square" rtlCol="0">
            <a:spAutoFit/>
          </a:bodyPr>
          <a:lstStyle/>
          <a:p>
            <a:endParaRPr lang="en-US" sz="1600" dirty="0"/>
          </a:p>
        </p:txBody>
      </p:sp>
      <p:sp>
        <p:nvSpPr>
          <p:cNvPr id="4" name="Content Placeholder 3">
            <a:extLst>
              <a:ext uri="{FF2B5EF4-FFF2-40B4-BE49-F238E27FC236}">
                <a16:creationId xmlns:a16="http://schemas.microsoft.com/office/drawing/2014/main" id="{936908C6-F966-4651-D517-735C19346B3D}"/>
              </a:ext>
            </a:extLst>
          </p:cNvPr>
          <p:cNvSpPr>
            <a:spLocks noGrp="1"/>
          </p:cNvSpPr>
          <p:nvPr>
            <p:ph idx="1"/>
          </p:nvPr>
        </p:nvSpPr>
        <p:spPr>
          <a:xfrm>
            <a:off x="865437" y="1677557"/>
            <a:ext cx="10251722" cy="4576660"/>
          </a:xfrm>
        </p:spPr>
        <p:txBody>
          <a:bodyPr/>
          <a:lstStyle/>
          <a:p>
            <a:pPr>
              <a:lnSpc>
                <a:spcPct val="100000"/>
              </a:lnSpc>
            </a:pPr>
            <a:r>
              <a:rPr lang="en-GB" sz="1400" dirty="0"/>
              <a:t>hist(</a:t>
            </a:r>
            <a:r>
              <a:rPr lang="en-GB" sz="1400" dirty="0" err="1"/>
              <a:t>vw$price</a:t>
            </a:r>
            <a:r>
              <a:rPr lang="en-GB" sz="1400" dirty="0"/>
              <a:t>, </a:t>
            </a:r>
            <a:r>
              <a:rPr lang="en-GB" sz="1400" dirty="0" err="1"/>
              <a:t>xlab</a:t>
            </a:r>
            <a:r>
              <a:rPr lang="en-GB" sz="1400" dirty="0"/>
              <a:t> = "Price (£)", </a:t>
            </a:r>
          </a:p>
          <a:p>
            <a:pPr>
              <a:lnSpc>
                <a:spcPct val="100000"/>
              </a:lnSpc>
            </a:pPr>
            <a:r>
              <a:rPr lang="en-GB" sz="1400" dirty="0"/>
              <a:t>     main = "Histogram of price (£)")</a:t>
            </a:r>
          </a:p>
          <a:p>
            <a:pPr>
              <a:lnSpc>
                <a:spcPct val="100000"/>
              </a:lnSpc>
            </a:pPr>
            <a:r>
              <a:rPr lang="en-GB" sz="1400" dirty="0"/>
              <a:t>summary(</a:t>
            </a:r>
            <a:r>
              <a:rPr lang="en-GB" sz="1400" dirty="0" err="1"/>
              <a:t>vw$price</a:t>
            </a:r>
            <a:r>
              <a:rPr lang="en-GB" sz="1400" dirty="0"/>
              <a:t>)</a:t>
            </a:r>
          </a:p>
          <a:p>
            <a:pPr>
              <a:lnSpc>
                <a:spcPct val="100000"/>
              </a:lnSpc>
            </a:pPr>
            <a:r>
              <a:rPr lang="en-GB" sz="1400" dirty="0"/>
              <a:t>vw2 &lt;- </a:t>
            </a:r>
            <a:r>
              <a:rPr lang="en-GB" sz="1400" dirty="0" err="1"/>
              <a:t>vw</a:t>
            </a:r>
            <a:r>
              <a:rPr lang="en-GB" sz="1400" dirty="0"/>
              <a:t>[</a:t>
            </a:r>
            <a:r>
              <a:rPr lang="en-GB" sz="1400" dirty="0" err="1"/>
              <a:t>vw$fuelType</a:t>
            </a:r>
            <a:r>
              <a:rPr lang="en-GB" sz="1400" dirty="0"/>
              <a:t> %in% c("Diesel", "Petrol"), ]</a:t>
            </a:r>
          </a:p>
          <a:p>
            <a:pPr>
              <a:lnSpc>
                <a:spcPct val="100000"/>
              </a:lnSpc>
            </a:pPr>
            <a:r>
              <a:rPr lang="en-GB" sz="1400" dirty="0" err="1"/>
              <a:t>wilcox.test</a:t>
            </a:r>
            <a:r>
              <a:rPr lang="en-GB" sz="1400" dirty="0"/>
              <a:t>(vw2$price ~ vw2$fuelType)</a:t>
            </a:r>
          </a:p>
          <a:p>
            <a:pPr>
              <a:lnSpc>
                <a:spcPct val="100000"/>
              </a:lnSpc>
            </a:pPr>
            <a:r>
              <a:rPr lang="en-GB" sz="1400" dirty="0"/>
              <a:t>boxplot(vw2$price ~ vw2$fuelType, </a:t>
            </a:r>
            <a:r>
              <a:rPr lang="en-GB" sz="1400" dirty="0" err="1"/>
              <a:t>xlab</a:t>
            </a:r>
            <a:r>
              <a:rPr lang="en-GB" sz="1400" dirty="0"/>
              <a:t> = "Fuel Type",</a:t>
            </a:r>
          </a:p>
          <a:p>
            <a:pPr>
              <a:lnSpc>
                <a:spcPct val="100000"/>
              </a:lnSpc>
            </a:pPr>
            <a:r>
              <a:rPr lang="en-GB" sz="1400" dirty="0"/>
              <a:t>        </a:t>
            </a:r>
            <a:r>
              <a:rPr lang="en-GB" sz="1400" dirty="0" err="1"/>
              <a:t>ylab</a:t>
            </a:r>
            <a:r>
              <a:rPr lang="en-GB" sz="1400" dirty="0"/>
              <a:t> = "Price (£)", </a:t>
            </a:r>
          </a:p>
          <a:p>
            <a:pPr>
              <a:lnSpc>
                <a:spcPct val="100000"/>
              </a:lnSpc>
            </a:pPr>
            <a:r>
              <a:rPr lang="en-GB" sz="1400" dirty="0"/>
              <a:t>        main = "Box plot of price and fuel types")</a:t>
            </a:r>
          </a:p>
          <a:p>
            <a:pPr>
              <a:lnSpc>
                <a:spcPct val="100000"/>
              </a:lnSpc>
            </a:pPr>
            <a:r>
              <a:rPr lang="en-GB" sz="1400" dirty="0"/>
              <a:t>hist(vw2$price, </a:t>
            </a:r>
            <a:r>
              <a:rPr lang="en-GB" sz="1400" dirty="0" err="1"/>
              <a:t>xlab</a:t>
            </a:r>
            <a:r>
              <a:rPr lang="en-GB" sz="1400" dirty="0"/>
              <a:t> = "Price (£)", </a:t>
            </a:r>
          </a:p>
          <a:p>
            <a:pPr>
              <a:lnSpc>
                <a:spcPct val="100000"/>
              </a:lnSpc>
            </a:pPr>
            <a:r>
              <a:rPr lang="en-GB" sz="1400" dirty="0"/>
              <a:t>     main = "Histogram of price (£)")</a:t>
            </a:r>
          </a:p>
          <a:p>
            <a:pPr>
              <a:lnSpc>
                <a:spcPct val="100000"/>
              </a:lnSpc>
            </a:pPr>
            <a:r>
              <a:rPr lang="en-GB" sz="1400" dirty="0" err="1"/>
              <a:t>x_values</a:t>
            </a:r>
            <a:r>
              <a:rPr lang="en-GB" sz="1400" dirty="0"/>
              <a:t> &lt;- </a:t>
            </a:r>
            <a:r>
              <a:rPr lang="en-GB" sz="1400" dirty="0" err="1"/>
              <a:t>seq</a:t>
            </a:r>
            <a:r>
              <a:rPr lang="en-GB" sz="1400" dirty="0"/>
              <a:t>(min(</a:t>
            </a:r>
            <a:r>
              <a:rPr lang="en-GB" sz="1400" dirty="0" err="1"/>
              <a:t>vw$price</a:t>
            </a:r>
            <a:r>
              <a:rPr lang="en-GB" sz="1400" dirty="0"/>
              <a:t>), max(</a:t>
            </a:r>
            <a:r>
              <a:rPr lang="en-GB" sz="1400" dirty="0" err="1"/>
              <a:t>vw$price</a:t>
            </a:r>
            <a:r>
              <a:rPr lang="en-GB" sz="1400" dirty="0"/>
              <a:t>), length = 100)</a:t>
            </a:r>
          </a:p>
          <a:p>
            <a:pPr>
              <a:lnSpc>
                <a:spcPct val="100000"/>
              </a:lnSpc>
            </a:pPr>
            <a:r>
              <a:rPr lang="en-GB" sz="1400" dirty="0" err="1"/>
              <a:t>y_values</a:t>
            </a:r>
            <a:r>
              <a:rPr lang="en-GB" sz="1400" dirty="0"/>
              <a:t> &lt;- </a:t>
            </a:r>
            <a:r>
              <a:rPr lang="en-GB" sz="1400" dirty="0" err="1"/>
              <a:t>dnorm</a:t>
            </a:r>
            <a:r>
              <a:rPr lang="en-GB" sz="1400" dirty="0"/>
              <a:t>(</a:t>
            </a:r>
            <a:r>
              <a:rPr lang="en-GB" sz="1400" dirty="0" err="1"/>
              <a:t>x_values</a:t>
            </a:r>
            <a:r>
              <a:rPr lang="en-GB" sz="1400" dirty="0"/>
              <a:t>, mean = mean(vw2$price), </a:t>
            </a:r>
            <a:r>
              <a:rPr lang="en-GB" sz="1400" dirty="0" err="1"/>
              <a:t>sd</a:t>
            </a:r>
            <a:r>
              <a:rPr lang="en-GB" sz="1400" dirty="0"/>
              <a:t> = </a:t>
            </a:r>
            <a:r>
              <a:rPr lang="en-GB" sz="1400" dirty="0" err="1"/>
              <a:t>sd</a:t>
            </a:r>
            <a:r>
              <a:rPr lang="en-GB" sz="1400" dirty="0"/>
              <a:t>(vw2$price))</a:t>
            </a:r>
          </a:p>
          <a:p>
            <a:pPr>
              <a:lnSpc>
                <a:spcPct val="100000"/>
              </a:lnSpc>
            </a:pPr>
            <a:r>
              <a:rPr lang="en-GB" sz="1400" dirty="0" err="1"/>
              <a:t>y_values</a:t>
            </a:r>
            <a:r>
              <a:rPr lang="en-GB" sz="1400" dirty="0"/>
              <a:t> &lt;- </a:t>
            </a:r>
            <a:r>
              <a:rPr lang="en-GB" sz="1400" dirty="0" err="1"/>
              <a:t>y_values</a:t>
            </a:r>
            <a:r>
              <a:rPr lang="en-GB" sz="1400" dirty="0"/>
              <a:t> * diff(</a:t>
            </a:r>
            <a:r>
              <a:rPr lang="en-GB" sz="1400" dirty="0" err="1"/>
              <a:t>hist_data$mids</a:t>
            </a:r>
            <a:r>
              <a:rPr lang="en-GB" sz="1400" dirty="0"/>
              <a:t>[1:2]) * length(vw2$price)</a:t>
            </a:r>
          </a:p>
          <a:p>
            <a:pPr>
              <a:lnSpc>
                <a:spcPct val="100000"/>
              </a:lnSpc>
            </a:pPr>
            <a:r>
              <a:rPr lang="en-GB" sz="1400" dirty="0"/>
              <a:t>lines(</a:t>
            </a:r>
            <a:r>
              <a:rPr lang="en-GB" sz="1400" dirty="0" err="1"/>
              <a:t>x_values</a:t>
            </a:r>
            <a:r>
              <a:rPr lang="en-GB" sz="1400" dirty="0"/>
              <a:t>, </a:t>
            </a:r>
            <a:r>
              <a:rPr lang="en-GB" sz="1400" dirty="0" err="1"/>
              <a:t>y_values</a:t>
            </a:r>
            <a:r>
              <a:rPr lang="en-GB" sz="1400" dirty="0"/>
              <a:t>, </a:t>
            </a:r>
            <a:r>
              <a:rPr lang="en-GB" sz="1400" dirty="0" err="1"/>
              <a:t>lwd</a:t>
            </a:r>
            <a:r>
              <a:rPr lang="en-GB" sz="1400" dirty="0"/>
              <a:t> = 2)</a:t>
            </a:r>
            <a:endParaRPr lang="en-AE"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9FEE4-7270-22F8-ABE9-2EF6A9C48D4E}"/>
              </a:ext>
            </a:extLst>
          </p:cNvPr>
          <p:cNvSpPr>
            <a:spLocks noGrp="1"/>
          </p:cNvSpPr>
          <p:nvPr>
            <p:ph type="title"/>
          </p:nvPr>
        </p:nvSpPr>
        <p:spPr>
          <a:xfrm>
            <a:off x="970139" y="662847"/>
            <a:ext cx="10279150" cy="365125"/>
          </a:xfrm>
        </p:spPr>
        <p:txBody>
          <a:bodyPr/>
          <a:lstStyle/>
          <a:p>
            <a:r>
              <a:rPr lang="en-US" spc="-202" dirty="0"/>
              <a:t>What does the result actually mean in the wider context of learning something useful / answering your RQ?</a:t>
            </a:r>
            <a:endParaRPr lang="en-AE" dirty="0"/>
          </a:p>
        </p:txBody>
      </p:sp>
      <p:sp>
        <p:nvSpPr>
          <p:cNvPr id="3" name="Content Placeholder 2">
            <a:extLst>
              <a:ext uri="{FF2B5EF4-FFF2-40B4-BE49-F238E27FC236}">
                <a16:creationId xmlns:a16="http://schemas.microsoft.com/office/drawing/2014/main" id="{5113F271-2BCA-C2E9-1E0D-795B5E229FC2}"/>
              </a:ext>
            </a:extLst>
          </p:cNvPr>
          <p:cNvSpPr>
            <a:spLocks noGrp="1"/>
          </p:cNvSpPr>
          <p:nvPr>
            <p:ph idx="1"/>
          </p:nvPr>
        </p:nvSpPr>
        <p:spPr>
          <a:xfrm>
            <a:off x="970139" y="2438393"/>
            <a:ext cx="10251722" cy="3175200"/>
          </a:xfrm>
        </p:spPr>
        <p:txBody>
          <a:bodyPr/>
          <a:lstStyle/>
          <a:p>
            <a:r>
              <a:rPr lang="en-GB" dirty="0"/>
              <a:t>Based on the statistical analysis, we can state that the car prices are higher for diesel cars compared to the petrol prices for the Volkswagen cars manufactured from 2000 to 2020. </a:t>
            </a:r>
          </a:p>
          <a:p>
            <a:r>
              <a:rPr lang="en-GB" dirty="0"/>
              <a:t>Customers tend to lean towards more fuel-efficient options thus diesel cars have higher demand as a result, their average price is higher than petrol cars. </a:t>
            </a:r>
            <a:endParaRPr lang="en-AE" dirty="0"/>
          </a:p>
        </p:txBody>
      </p:sp>
      <p:sp>
        <p:nvSpPr>
          <p:cNvPr id="4" name="Footer Placeholder 3">
            <a:extLst>
              <a:ext uri="{FF2B5EF4-FFF2-40B4-BE49-F238E27FC236}">
                <a16:creationId xmlns:a16="http://schemas.microsoft.com/office/drawing/2014/main" id="{0D6F39DE-488B-EE17-DFC5-F0C1428581F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BEBF888-5890-2BAE-56EF-8F00A583C25B}"/>
              </a:ext>
            </a:extLst>
          </p:cNvPr>
          <p:cNvSpPr>
            <a:spLocks noGrp="1"/>
          </p:cNvSpPr>
          <p:nvPr>
            <p:ph type="sldNum" sz="quarter" idx="12"/>
          </p:nvPr>
        </p:nvSpPr>
        <p:spPr/>
        <p:txBody>
          <a:bodyPr/>
          <a:lstStyle/>
          <a:p>
            <a:fld id="{E4D355CA-84B7-41B1-B164-8BB439CC7C6B}" type="slidenum">
              <a:rPr lang="en-GB" smtClean="0"/>
              <a:pPr/>
              <a:t>9</a:t>
            </a:fld>
            <a:endParaRPr lang="en-GB"/>
          </a:p>
        </p:txBody>
      </p:sp>
    </p:spTree>
    <p:extLst>
      <p:ext uri="{BB962C8B-B14F-4D97-AF65-F5344CB8AC3E}">
        <p14:creationId xmlns:p14="http://schemas.microsoft.com/office/powerpoint/2010/main" val="4257650774"/>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731</TotalTime>
  <Words>1196</Words>
  <Application>Microsoft Office PowerPoint</Application>
  <PresentationFormat>Widescreen</PresentationFormat>
  <Paragraphs>80</Paragraphs>
  <Slides>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Herts Theme</vt:lpstr>
      <vt:lpstr>Research Question –  Tutorial Presentation for Feedback Date:  24-11-2025 </vt:lpstr>
      <vt:lpstr>1. For our research question, we will use the price and fuel type columns. 2. Sample dataset       3. The dataset has 15157 rows and 9 columns.</vt:lpstr>
      <vt:lpstr>This dataset is interesting to us because : This dataset is interesting to us because it provides used car data that allows us to determine prices based on factors such as age, mileage, engine size, fuel type, fuel economy and transmission.  From the column headings in your dataset choose ONE independent * and ONE dependent variable .  Our  Independent variable is: fuel type                    This  Independent variable datatype is (select one): Nominal/categorial Our Dependent variable is:  price                    This Dependent variable datatype is  (select one): Interval/measurement data</vt:lpstr>
      <vt:lpstr>Template2 : Interval/Ordinal vs Nominal. data “Is there a difference in the mean price between petrol and diesel fuel type in the UK’s  used car  market  for  Volkswagen cars manufactured from 2000 to 2020”.   1. Null hypothesis (H0): There is no difference in the mean price between petrol and diesel fuel type in the UK’s  used car  market  for  Volkswagen cars manufactured from 2000 to 2020.   2. Alt hypothesis (H1): There is a difference in the mean price between petrol and diesel fuel fuel type in the UK’s  used car  market  for  Volkswagen cars manufactured from 2000 to 2020.  We have  statistical significance [p-value = &lt; 0.05]  "We reject the null hypothesis".   </vt:lpstr>
      <vt:lpstr>Visualization and Analysis –  Tutorial Presentation for Feedback Date:  </vt:lpstr>
      <vt:lpstr>PowerPoint Presentation</vt:lpstr>
      <vt:lpstr>PowerPoint Presentation</vt:lpstr>
      <vt:lpstr>PowerPoint Presentation</vt:lpstr>
      <vt:lpstr>What does the result actually mean in the wider context of learning something useful / answering your RQ?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Kiran Dennis Kotteparambil Thomas [Student-PECS]</cp:lastModifiedBy>
  <cp:revision>144</cp:revision>
  <dcterms:created xsi:type="dcterms:W3CDTF">2019-10-01T08:37:56Z</dcterms:created>
  <dcterms:modified xsi:type="dcterms:W3CDTF">2025-11-24T16:03:50Z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